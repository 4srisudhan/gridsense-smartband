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731520"/>
            <a:ext cx="1645920" cy="1645920"/>
          </a:xfrm>
          <a:prstGeom prst="ellipse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828800"/>
            <a:ext cx="914400" cy="91440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4846320"/>
            <a:ext cx="2011680" cy="2011680"/>
          </a:xfrm>
          <a:prstGeom prst="ellipse">
            <a:avLst/>
          </a:prstGeom>
          <a:solidFill>
            <a:srgbClr val="14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8046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GridSense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412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CEEFF"/>
                </a:solidFill>
              </a:rPr>
              <a:t>AIoT Energy, Equipment
&amp; Worker Safety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BEDC"/>
                </a:solidFill>
              </a:defRPr>
            </a:pPr>
            <a:r>
              <a:t>Hackathon Solution • PS-02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i="1">
                <a:solidFill>
                  <a:srgbClr val="FFFFFF"/>
                </a:solidFill>
              </a:defRPr>
            </a:pPr>
            <a:r>
              <a:t>“Monitor the machine. Protect the worker. Act before failure.”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81F36"/>
                </a:solidFill>
              </a:rPr>
              <a:t>01 • 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A78"/>
                </a:solidFill>
              </a:rPr>
              <a:t>GridSense problem statement translated into a practical IoT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394960" cy="434340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4343400"/>
          </a:xfrm>
          <a:prstGeom prst="rect">
            <a:avLst/>
          </a:prstGeom>
          <a:solidFill>
            <a:srgbClr val="DC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75688"/>
            <a:ext cx="502920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Factories, workshops and buildings operate many electrical loads.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Equipment-level monitoring is often limited or disconnected.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Rising current, temperature, vibration or power can indicate abnormal operation.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Failures may be noticed only after energy loss, downtime or safety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08760"/>
            <a:ext cx="5394960" cy="434340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508760"/>
            <a:ext cx="64008" cy="43434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19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Our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75688"/>
            <a:ext cx="502920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Continuously measure electrical and equipment parameters.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Identify abnormal operating conditions in real time.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Show energy consumption and equipment health on one dashboard.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Use a Smart Band to warn nearby workers when a hazardous condition is detected.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5961888"/>
            <a:ext cx="8138160" cy="393192"/>
          </a:xfrm>
          <a:prstGeom prst="roundRect">
            <a:avLst/>
          </a:prstGeom>
          <a:solidFill>
            <a:srgbClr val="E2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1F36"/>
                </a:solidFill>
              </a:defRPr>
            </a:pPr>
            <a:r>
              <a:t>How much energy is each load consuming, is it operating normally, and when should action be taken?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A78"/>
                </a:solidFill>
              </a:defRPr>
            </a:pPr>
            <a:r>
              <a:t>GridSense • AIoT Energy, Equipment &amp; Worker Safety Monitoring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81F36"/>
                </a:solidFill>
              </a:rPr>
              <a:t>02 •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A78"/>
                </a:solidFill>
              </a:rPr>
              <a:t>One platform connecting equipment telemetry, AI-based anomaly detection and a worker Smart Band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54480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C6A78"/>
                </a:solidFill>
              </a:defRPr>
            </a:pPr>
            <a:r>
              <a:t>EQUIPMENT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74519"/>
            <a:ext cx="30540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EFF"/>
                </a:solidFill>
              </a:defRPr>
            </a:pPr>
            <a:r>
              <a:t>Sensors + ESP32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C6A78"/>
                </a:solidFill>
              </a:defRPr>
            </a:pPr>
            <a: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74519"/>
            <a:ext cx="30540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BEDC"/>
                </a:solidFill>
              </a:defRPr>
            </a:pPr>
            <a:r>
              <a:t>Rules + AI anomaly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1554480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C6A78"/>
                </a:solidFill>
              </a:defRPr>
            </a:pPr>
            <a:r>
              <a:t>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874519"/>
            <a:ext cx="305409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AE60"/>
                </a:solidFill>
              </a:defRPr>
            </a:pPr>
            <a:r>
              <a:t>Smart Band alerts</a:t>
            </a:r>
          </a:p>
        </p:txBody>
      </p:sp>
      <p:sp>
        <p:nvSpPr>
          <p:cNvPr id="14" name="Chevron 13"/>
          <p:cNvSpPr/>
          <p:nvPr/>
        </p:nvSpPr>
        <p:spPr>
          <a:xfrm>
            <a:off x="4041648" y="1847088"/>
            <a:ext cx="320040" cy="457200"/>
          </a:xfrm>
          <a:prstGeom prst="chevron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808975" y="1847088"/>
            <a:ext cx="320040" cy="457200"/>
          </a:xfrm>
          <a:prstGeom prst="chevron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154680"/>
            <a:ext cx="5257800" cy="242316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154680"/>
            <a:ext cx="64008" cy="242316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291840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Equipment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721608"/>
            <a:ext cx="489204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Voltage, current, power and energy consumption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Temperature and vibration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Load status, runtime and overload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3154680"/>
            <a:ext cx="5257800" cy="242316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3154680"/>
            <a:ext cx="64008" cy="2423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91840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Worker Safety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21608"/>
            <a:ext cx="489204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BLE-linked wearable Smart Band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Haptic/visual warning when abnormal equipment is nearby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Emergency/SOS button and fall/impact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A78"/>
                </a:solidFill>
              </a:defRPr>
            </a:pPr>
            <a:r>
              <a:t>GridSense • AIoT Energy, Equipment &amp; Worker Safety Monitoring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81F36"/>
                </a:solidFill>
              </a:rPr>
              <a:t>03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A78"/>
                </a:solidFill>
              </a:rPr>
              <a:t>Real-time sensing → connectivity → intelligence →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11680" cy="1051560"/>
          </a:xfrm>
          <a:prstGeom prst="roundRect">
            <a:avLst/>
          </a:prstGeom>
          <a:solidFill>
            <a:srgbClr val="EFF6FD"/>
          </a:solidFill>
          <a:ln>
            <a:solidFill>
              <a:srgbClr val="0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975104"/>
            <a:ext cx="17922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1F36"/>
                </a:solidFill>
              </a:defRPr>
            </a:pPr>
            <a:r>
              <a:t>ELECTRICAL LOAD</a:t>
            </a:r>
          </a:p>
          <a:p>
            <a:pPr algn="ctr">
              <a:defRPr sz="900">
                <a:solidFill>
                  <a:srgbClr val="5C6A78"/>
                </a:solidFill>
              </a:defRPr>
            </a:pPr>
            <a:r>
              <a:t>Motor / Pump / HVAC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828800"/>
            <a:ext cx="2011680" cy="1051560"/>
          </a:xfrm>
          <a:prstGeom prst="roundRect">
            <a:avLst/>
          </a:prstGeom>
          <a:solidFill>
            <a:srgbClr val="EFF6FD"/>
          </a:solidFill>
          <a:ln>
            <a:solidFill>
              <a:srgbClr val="0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0088" y="1975104"/>
            <a:ext cx="17922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1F36"/>
                </a:solidFill>
              </a:defRPr>
            </a:pPr>
            <a:r>
              <a:t>SENSORS</a:t>
            </a:r>
          </a:p>
          <a:p>
            <a:pPr algn="ctr">
              <a:defRPr sz="900">
                <a:solidFill>
                  <a:srgbClr val="5C6A78"/>
                </a:solidFill>
              </a:defRPr>
            </a:pPr>
            <a:r>
              <a:t>Current • Voltage</a:t>
            </a:r>
            <a:br/>
            <a:r>
              <a:t>Temp • Vibration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28800"/>
            <a:ext cx="2011680" cy="1051560"/>
          </a:xfrm>
          <a:prstGeom prst="roundRect">
            <a:avLst/>
          </a:prstGeom>
          <a:solidFill>
            <a:srgbClr val="EFF6FD"/>
          </a:solidFill>
          <a:ln>
            <a:solidFill>
              <a:srgbClr val="0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7528" y="1975104"/>
            <a:ext cx="17922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1F36"/>
                </a:solidFill>
              </a:defRPr>
            </a:pPr>
            <a:r>
              <a:t>EDGE DEVICE</a:t>
            </a:r>
          </a:p>
          <a:p>
            <a:pPr algn="ctr">
              <a:defRPr sz="900">
                <a:solidFill>
                  <a:srgbClr val="5C6A78"/>
                </a:solidFill>
              </a:defRPr>
            </a:pPr>
            <a:r>
              <a:t>ESP32 /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828800"/>
            <a:ext cx="2011680" cy="1051560"/>
          </a:xfrm>
          <a:prstGeom prst="roundRect">
            <a:avLst/>
          </a:prstGeom>
          <a:solidFill>
            <a:srgbClr val="EFF6FD"/>
          </a:solidFill>
          <a:ln>
            <a:solidFill>
              <a:srgbClr val="0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7" y="1975104"/>
            <a:ext cx="179222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1F36"/>
                </a:solidFill>
              </a:defRPr>
            </a:pPr>
            <a:r>
              <a:t>CLOUD / API</a:t>
            </a:r>
          </a:p>
          <a:p>
            <a:pPr algn="ctr">
              <a:defRPr sz="900">
                <a:solidFill>
                  <a:srgbClr val="5C6A78"/>
                </a:solidFill>
              </a:defRPr>
            </a:pPr>
            <a:r>
              <a:t>MQTT •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680" y="1828800"/>
            <a:ext cx="1645920" cy="1051560"/>
          </a:xfrm>
          <a:prstGeom prst="roundRect">
            <a:avLst/>
          </a:prstGeom>
          <a:solidFill>
            <a:srgbClr val="EFF6FD"/>
          </a:solidFill>
          <a:ln>
            <a:solidFill>
              <a:srgbClr val="0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22407" y="1975104"/>
            <a:ext cx="1426464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81F36"/>
                </a:solidFill>
              </a:defRPr>
            </a:pPr>
            <a:r>
              <a:t>DASHBOARD</a:t>
            </a:r>
          </a:p>
          <a:p>
            <a:pPr algn="ctr">
              <a:defRPr sz="900">
                <a:solidFill>
                  <a:srgbClr val="5C6A78"/>
                </a:solidFill>
              </a:defRPr>
            </a:pPr>
            <a:r>
              <a:t>Live UI</a:t>
            </a:r>
          </a:p>
        </p:txBody>
      </p:sp>
      <p:sp>
        <p:nvSpPr>
          <p:cNvPr id="15" name="Chevron 14"/>
          <p:cNvSpPr/>
          <p:nvPr/>
        </p:nvSpPr>
        <p:spPr>
          <a:xfrm>
            <a:off x="2514600" y="2121408"/>
            <a:ext cx="292608" cy="384048"/>
          </a:xfrm>
          <a:prstGeom prst="chevron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4892040" y="2121408"/>
            <a:ext cx="292608" cy="384048"/>
          </a:xfrm>
          <a:prstGeom prst="chevron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7269480" y="2121408"/>
            <a:ext cx="292608" cy="384048"/>
          </a:xfrm>
          <a:prstGeom prst="chevron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9646920" y="2121408"/>
            <a:ext cx="292608" cy="384048"/>
          </a:xfrm>
          <a:prstGeom prst="chevron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794760"/>
            <a:ext cx="3154680" cy="169164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794760"/>
            <a:ext cx="64008" cy="16916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3931920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AI / Rule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361688"/>
            <a:ext cx="27889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Thresholds + trend analysis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Anomaly score and risk level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794760"/>
            <a:ext cx="3154680" cy="169164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3794760"/>
            <a:ext cx="64008" cy="1691640"/>
          </a:xfrm>
          <a:prstGeom prst="rect">
            <a:avLst/>
          </a:prstGeom>
          <a:solidFill>
            <a:srgbClr val="F29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931920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Alert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4361688"/>
            <a:ext cx="27889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Dashboard notification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Smart Band vibration / warning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94760"/>
            <a:ext cx="3154680" cy="169164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794760"/>
            <a:ext cx="64008" cy="1691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3931920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361688"/>
            <a:ext cx="27889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Inspect equipment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Optional relay/load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A78"/>
                </a:solidFill>
              </a:defRPr>
            </a:pPr>
            <a:r>
              <a:t>GridSense • AIoT Energy, Equipment &amp; Worker Safety Monitoring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FFFFF"/>
                </a:solidFill>
              </a:rPr>
              <a:t>04 • GridSense Smart 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A wearable safety extension for workers near monitored equipment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926080" cy="4114800"/>
          </a:xfrm>
          <a:prstGeom prst="roundRect">
            <a:avLst/>
          </a:prstGeom>
          <a:solidFill>
            <a:srgbClr val="18344C"/>
          </a:solidFill>
          <a:ln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34440" y="2148840"/>
            <a:ext cx="2103120" cy="2194560"/>
          </a:xfrm>
          <a:prstGeom prst="roundRect">
            <a:avLst/>
          </a:prstGeom>
          <a:solidFill>
            <a:srgbClr val="051423"/>
          </a:solidFill>
          <a:ln>
            <a:solidFill>
              <a:srgbClr val="0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2468880"/>
            <a:ext cx="1783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BE46"/>
                </a:solidFill>
              </a:defRPr>
            </a:pPr>
            <a:r>
              <a:t>⚠ ALERT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MOTOR ABNORMAL</a:t>
            </a:r>
          </a:p>
          <a:p>
            <a:pPr algn="ctr">
              <a:defRPr sz="1000">
                <a:solidFill>
                  <a:srgbClr val="00BEDC"/>
                </a:solidFill>
              </a:defRPr>
            </a:pPr>
            <a:r>
              <a:t>MOVE TO SAFE 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17320"/>
            <a:ext cx="3383280" cy="4389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417320"/>
            <a:ext cx="64008" cy="438912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Wearable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984248"/>
            <a:ext cx="301752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BLE communication with gateway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Vibration/haptic warning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Emergency SOS button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Accelerometer for fall/impact detection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Optional location and environmental sensing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17320"/>
            <a:ext cx="3383280" cy="4389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09560" y="1417320"/>
            <a:ext cx="64008" cy="4389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8" y="155448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Smart Safety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8" y="1984248"/>
            <a:ext cx="301752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Equipment abnormality detected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Worker is inside a defined safety zone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Risk level increases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Band vibrates and dashboard raises alert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Supervisor can initiate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A78"/>
                </a:solidFill>
              </a:defRPr>
            </a:pPr>
            <a:r>
              <a:t>GridSense • AIoT Energy, Equipment &amp; Worker Safety Monitoring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81F36"/>
                </a:solidFill>
              </a:rPr>
              <a:t>05 • Live 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A78"/>
                </a:solidFill>
              </a:rPr>
              <a:t>A simple representative setup can demonstrate the complete value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7592" y="2057400"/>
            <a:ext cx="658368" cy="6583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81F36"/>
                </a:solidFill>
              </a:defRPr>
            </a:pPr>
            <a: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A78"/>
                </a:solidFill>
              </a:defRPr>
            </a:pPr>
            <a:r>
              <a:t>Motor consumes normal power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072" y="18288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29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75304" y="2057400"/>
            <a:ext cx="658368" cy="658368"/>
          </a:xfrm>
          <a:prstGeom prst="ellipse">
            <a:avLst/>
          </a:prstGeom>
          <a:solidFill>
            <a:srgbClr val="F29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8803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81F36"/>
                </a:solidFill>
              </a:defRPr>
            </a:pPr>
            <a:r>
              <a:t>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342900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A78"/>
                </a:solidFill>
              </a:defRPr>
            </a:pPr>
            <a:r>
              <a:t>Load increases; current rises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9783" y="18288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43016" y="2057400"/>
            <a:ext cx="658368" cy="658368"/>
          </a:xfrm>
          <a:prstGeom prst="ellipse">
            <a:avLst/>
          </a:prstGeom>
          <a:solidFill>
            <a:srgbClr val="DC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28803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81F36"/>
                </a:solidFill>
              </a:defRPr>
            </a:pPr>
            <a: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342900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A78"/>
                </a:solidFill>
              </a:defRPr>
            </a:pPr>
            <a:r>
              <a:t>Temp/vibration trend becomes abnormal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8288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0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10727" y="2057400"/>
            <a:ext cx="658368" cy="658368"/>
          </a:xfrm>
          <a:prstGeom prst="ellipse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5" y="28803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81F36"/>
                </a:solidFill>
              </a:defRPr>
            </a:pPr>
            <a:r>
              <a:t>Protect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375" y="342900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A78"/>
                </a:solidFill>
              </a:defRPr>
            </a:pPr>
            <a:r>
              <a:t>Nearby worker receives Smart Band alert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5208" y="1828800"/>
            <a:ext cx="2103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78440" y="2057400"/>
            <a:ext cx="658368" cy="65836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28803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81F36"/>
                </a:solidFill>
              </a:defRPr>
            </a:pPr>
            <a: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3429000"/>
            <a:ext cx="1737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A78"/>
                </a:solidFill>
              </a:defRPr>
            </a:pPr>
            <a:r>
              <a:t>Dashboard recommends inspection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257800"/>
            <a:ext cx="8503920" cy="594360"/>
          </a:xfrm>
          <a:prstGeom prst="round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1F36"/>
                </a:solidFill>
              </a:defRPr>
            </a:pPr>
            <a:r>
              <a:t>Demo outcome: real-time monitoring + early warning + worker protection + actionable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A78"/>
                </a:solidFill>
              </a:defRPr>
            </a:pPr>
            <a:r>
              <a:t>GridSense • AIoT Energy, Equipment &amp; Worker Safety Monitoring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81F36"/>
                </a:solidFill>
              </a:rPr>
              <a:t>06 • Dashboard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A78"/>
                </a:solidFill>
              </a:rPr>
              <a:t>A single control layer for energy, equipment health and safety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72800" cy="4526280"/>
          </a:xfrm>
          <a:prstGeom prst="roundRect">
            <a:avLst/>
          </a:prstGeom>
          <a:solidFill>
            <a:srgbClr val="F8FBFE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874519"/>
            <a:ext cx="2002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C6A78"/>
                </a:solidFill>
              </a:defRPr>
            </a:pPr>
            <a:r>
              <a:t>TOTAL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94560"/>
            <a:ext cx="20025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EFF"/>
                </a:solidFill>
              </a:defRPr>
            </a:pPr>
            <a:r>
              <a:t>12.8 kW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73736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874519"/>
            <a:ext cx="2002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C6A78"/>
                </a:solidFill>
              </a:defRPr>
            </a:pPr>
            <a:r>
              <a:t>ENERGY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194560"/>
            <a:ext cx="20025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BEDC"/>
                </a:solidFill>
              </a:defRPr>
            </a:pPr>
            <a:r>
              <a:t>86.4 kWh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25896" y="173736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874519"/>
            <a:ext cx="2002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C6A78"/>
                </a:solidFill>
              </a:defRPr>
            </a:pPr>
            <a:r>
              <a:t>ACTIVE 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194560"/>
            <a:ext cx="20025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7AE60"/>
                </a:solidFill>
              </a:defRPr>
            </a:pPr>
            <a:r>
              <a:t>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04504" y="1737360"/>
            <a:ext cx="2331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69096" y="1874519"/>
            <a:ext cx="2002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C6A78"/>
                </a:solidFill>
              </a:defRPr>
            </a:pPr>
            <a:r>
              <a:t>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2194560"/>
            <a:ext cx="20025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C4646"/>
                </a:solidFill>
              </a:defRPr>
            </a:pPr>
            <a: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46120"/>
            <a:ext cx="63093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34440" y="4572000"/>
            <a:ext cx="384048" cy="50292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20240" y="4343400"/>
            <a:ext cx="384048" cy="73152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06040" y="4160520"/>
            <a:ext cx="384048" cy="9144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4434840"/>
            <a:ext cx="384048" cy="64008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77639" y="3931920"/>
            <a:ext cx="384048" cy="11430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4160520"/>
            <a:ext cx="384048" cy="91440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9240" y="4480559"/>
            <a:ext cx="384048" cy="59436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4206240"/>
            <a:ext cx="384048" cy="86868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340156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81F36"/>
                </a:solidFill>
              </a:defRPr>
            </a:pPr>
            <a:r>
              <a:t>Power consumption trend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246120"/>
            <a:ext cx="3566160" cy="2103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3246120"/>
            <a:ext cx="64008" cy="2103120"/>
          </a:xfrm>
          <a:prstGeom prst="rect">
            <a:avLst/>
          </a:prstGeom>
          <a:solidFill>
            <a:srgbClr val="DC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8" y="3383279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Live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8" y="3813048"/>
            <a:ext cx="3200400" cy="1444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⚠ Motor-02: abnormal vibration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⚠ Load-05: overload trend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Band alert: worker nearby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A78"/>
                </a:solidFill>
              </a:defRPr>
            </a:pPr>
            <a:r>
              <a:t>GridSense • AIoT Energy, Equipment &amp; Worker Safety Monitoring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81F36"/>
                </a:solidFill>
              </a:rPr>
              <a:t>07 • Technology Stack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A78"/>
                </a:solidFill>
              </a:rPr>
              <a:t>Prototype-first architecture designed for a reliable hackathon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443484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4434840"/>
          </a:xfrm>
          <a:prstGeom prst="rect">
            <a:avLst/>
          </a:prstGeom>
          <a:solidFill>
            <a:srgbClr val="00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5448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310896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ESP32 / ESP32-S3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Current &amp; voltage sensing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Temperature sensor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Vibration / accelerometer sensor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Relay module for optional control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Smart Band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17320"/>
            <a:ext cx="3474720" cy="443484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417320"/>
            <a:ext cx="64008" cy="44348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55448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1984248"/>
            <a:ext cx="310896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MQTT / HTTP telemetry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Backend API + database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Real-time dashboard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Rule-based anomaly detection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Historical analytics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Notification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17320"/>
            <a:ext cx="3474720" cy="443484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417320"/>
            <a:ext cx="64008" cy="4434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55448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81F36"/>
                </a:solidFill>
              </a:rPr>
              <a:t>AI / Future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1984248"/>
            <a:ext cx="310896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Anomaly scoring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Trend-based prediction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Equipment health score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Energy optimization insights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Multiple equipment support</a:t>
            </a:r>
          </a:p>
          <a:p>
            <a:pPr>
              <a:spcAft>
                <a:spcPts val="700"/>
              </a:spcAft>
              <a:defRPr sz="1200">
                <a:solidFill>
                  <a:srgbClr val="192634"/>
                </a:solidFill>
              </a:defRPr>
            </a:pPr>
            <a:r>
              <a:t>Role-based supervisor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A78"/>
                </a:solidFill>
              </a:defRPr>
            </a:pPr>
            <a:r>
              <a:t>GridSense • AIoT Energy, Equipment &amp; Worker Safety Monitoring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FFFFFF"/>
                </a:solidFill>
              </a:rPr>
              <a:t>08 • 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Designed around the outcomes requested by the GridSense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971800" cy="1600200"/>
          </a:xfrm>
          <a:prstGeom prst="roundRect">
            <a:avLst/>
          </a:prstGeom>
          <a:solidFill>
            <a:srgbClr val="112D46"/>
          </a:solidFill>
          <a:ln>
            <a:solidFill>
              <a:srgbClr val="0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91639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ENERGY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67128"/>
            <a:ext cx="2651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E6F2"/>
                </a:solidFill>
              </a:defRPr>
            </a:pPr>
            <a:r>
              <a:t>Know how much each load consumes.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08760"/>
            <a:ext cx="2971800" cy="1600200"/>
          </a:xfrm>
          <a:prstGeom prst="roundRect">
            <a:avLst/>
          </a:prstGeom>
          <a:solidFill>
            <a:srgbClr val="112D46"/>
          </a:solidFill>
          <a:ln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5112" y="1691639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EARLY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2167128"/>
            <a:ext cx="2651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E6F2"/>
                </a:solidFill>
              </a:defRPr>
            </a:pPr>
            <a:r>
              <a:t>Spot abnormal current, power, heat and vibration.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508760"/>
            <a:ext cx="2971800" cy="1600200"/>
          </a:xfrm>
          <a:prstGeom prst="roundRect">
            <a:avLst/>
          </a:prstGeom>
          <a:solidFill>
            <a:srgbClr val="112D46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1691639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WORKER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2167128"/>
            <a:ext cx="2651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E6F2"/>
                </a:solidFill>
              </a:defRPr>
            </a:pPr>
            <a:r>
              <a:t>Warn workers through the Smart Band.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2971800" cy="1600200"/>
          </a:xfrm>
          <a:prstGeom prst="roundRect">
            <a:avLst/>
          </a:prstGeom>
          <a:solidFill>
            <a:srgbClr val="112D46"/>
          </a:solidFill>
          <a:ln>
            <a:solidFill>
              <a:srgbClr val="F29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776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ACTIONABLE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53128"/>
            <a:ext cx="2651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E6F2"/>
                </a:solidFill>
              </a:defRPr>
            </a:pPr>
            <a:r>
              <a:t>Turn sensor data into clear next steps.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794760"/>
            <a:ext cx="2971800" cy="1600200"/>
          </a:xfrm>
          <a:prstGeom prst="roundRect">
            <a:avLst/>
          </a:prstGeom>
          <a:solidFill>
            <a:srgbClr val="112D46"/>
          </a:solidFill>
          <a:ln>
            <a:solidFill>
              <a:srgbClr val="0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39776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HISTORICAL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453128"/>
            <a:ext cx="2651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E6F2"/>
                </a:solidFill>
              </a:defRPr>
            </a:pPr>
            <a:r>
              <a:t>Compare trends and identify recurring problems.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794760"/>
            <a:ext cx="2971800" cy="1600200"/>
          </a:xfrm>
          <a:prstGeom prst="roundRect">
            <a:avLst/>
          </a:prstGeom>
          <a:solidFill>
            <a:srgbClr val="112D46"/>
          </a:solidFill>
          <a:ln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9831" y="39776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SCALABLE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4453128"/>
            <a:ext cx="2651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E6F2"/>
                </a:solidFill>
              </a:defRPr>
            </a:pPr>
            <a:r>
              <a:t>Extend from one demo load to many facilities.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A78"/>
                </a:solidFill>
              </a:defRPr>
            </a:pPr>
            <a:r>
              <a:t>GridSense • AIoT Energy, Equipment &amp; Worker Safety Monitoring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81F36"/>
                </a:solidFill>
              </a:rPr>
              <a:t>GridSense — From Data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A78"/>
                </a:solidFill>
              </a:rPr>
              <a:t>A unified AIoT layer for energy efficiency, equipment reliability and worker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9966960" cy="1828800"/>
          </a:xfrm>
          <a:prstGeom prst="roundRect">
            <a:avLst/>
          </a:prstGeom>
          <a:solidFill>
            <a:srgbClr val="EFF6FD"/>
          </a:solidFill>
          <a:ln>
            <a:solidFill>
              <a:srgbClr val="00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212848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81F36"/>
                </a:solidFill>
              </a:defRPr>
            </a:pPr>
            <a:r>
              <a:t>SENSE  →  UNDERSTAND  →  ALERT  → 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1605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EFF"/>
                </a:solidFill>
              </a:defRPr>
            </a:pPr>
            <a:r>
              <a:t>Equipment health + energy intelligence + Smart Band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21208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C6A78"/>
                </a:solidFill>
              </a:defRPr>
            </a:pPr>
            <a:r>
              <a:t>Thank You •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A78"/>
                </a:solidFill>
              </a:defRPr>
            </a:pPr>
            <a:r>
              <a:t>GridSense • AIoT Energy, Equipment &amp; Worker Safety Monitoring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